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C1A10"/>
          </a:solidFill>
          <a:ln w="12700">
            <a:solidFill>
              <a:srgbClr val="0C1A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0"/>
            <a:ext cx="36576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</a:rPr>
              <a:t>Edge AI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74320" y="2971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FBBF24"/>
                </a:solidFill>
              </a:rPr>
              <a:t>Agent</a:t>
            </a:r>
            <a:endParaRPr lang="en-US" sz="3500" dirty="0"/>
          </a:p>
        </p:txBody>
      </p:sp>
      <p:sp>
        <p:nvSpPr>
          <p:cNvPr id="7" name="Shape 4"/>
          <p:cNvSpPr/>
          <p:nvPr/>
        </p:nvSpPr>
        <p:spPr>
          <a:xfrm>
            <a:off x="274320" y="3675888"/>
            <a:ext cx="2286000" cy="274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3767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Edge Computing 특론 — AI 특강 Day 2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74320" y="4069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이선우  •  Principal Engineer, SuperGate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77640" y="594360"/>
            <a:ext cx="48463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7772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56048" y="822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왜 Edge에서 LLM인가?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3977640" y="1673352"/>
            <a:ext cx="48463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856232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56048" y="19019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GGUF &amp; llama.cpp 구조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3977640" y="2752344"/>
            <a:ext cx="48463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935224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56048" y="29809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Ollama로 로컬 Agent 실행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3977640" y="3831336"/>
            <a:ext cx="48463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4014216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956048" y="40599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성능 측정 &amp; NPU 전망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3977640" y="48006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Day 1 복습 → Day 2 심화 → 실제 Edge 배포까지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Day 2 타임라인 — 2시간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Agenda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01168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54864" cy="16642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051560"/>
            <a:ext cx="1280160" cy="2468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05156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0:00–0:10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139903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Day 1 복습 &amp; 연결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468880" y="960120"/>
            <a:ext cx="201168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960120"/>
            <a:ext cx="54864" cy="16642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78608" y="1051560"/>
            <a:ext cx="1280160" cy="2468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105156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0:10–0:30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78608" y="139903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왜 Edge LLM인가?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17720" y="960120"/>
            <a:ext cx="201168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960120"/>
            <a:ext cx="54864" cy="16642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27448" y="1051560"/>
            <a:ext cx="1280160" cy="24688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105156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0:30–0:50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27448" y="139903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GGUF &amp; llama.cpp 구조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766560" y="960120"/>
            <a:ext cx="201168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960120"/>
            <a:ext cx="54864" cy="16642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76288" y="1051560"/>
            <a:ext cx="1280160" cy="2468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76288" y="105156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0:50–1:05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76288" y="139903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Ollama 실습 세팅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20040" y="2834640"/>
            <a:ext cx="201168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834640"/>
            <a:ext cx="54864" cy="16642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" y="2926080"/>
            <a:ext cx="1280160" cy="2468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292608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1:05–1:10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9768" y="327355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Break ☕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2468880" y="2834640"/>
            <a:ext cx="201168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68880" y="2834640"/>
            <a:ext cx="54864" cy="16642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78608" y="2926080"/>
            <a:ext cx="1280160" cy="24688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78608" y="292608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1:10–1:40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578608" y="327355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로컬 Agent 실습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4617720" y="2834640"/>
            <a:ext cx="201168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17720" y="2834640"/>
            <a:ext cx="54864" cy="16642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27448" y="2926080"/>
            <a:ext cx="1280160" cy="2468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27448" y="292608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1:40–1:55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27448" y="327355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성능 측정 &amp; NPU 전망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6766560" y="2834640"/>
            <a:ext cx="201168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66560" y="2834640"/>
            <a:ext cx="54864" cy="16642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76288" y="2926080"/>
            <a:ext cx="1280160" cy="2468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76288" y="292608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1:55–2:00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76288" y="327355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마무리 &amp; Q&amp;A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Day 1 핵심 복습 — 3문장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복습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50392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54864" cy="8686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188720"/>
            <a:ext cx="502920" cy="4572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88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0332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</a:rPr>
              <a:t>LLM = 토큰 예측 함수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14173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기억·행동·최신정보가 없다. 그래서 Agent가 필요하다.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965960"/>
            <a:ext cx="850392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65960"/>
            <a:ext cx="54864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2194560"/>
            <a:ext cx="502920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1945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2039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Agent = LLM + Tool + Loop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24231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ReAct: Thought→Action→Observe 반복. 우리가 50줄로 구현했다.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971800"/>
            <a:ext cx="850392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71800"/>
            <a:ext cx="54864" cy="868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3200400"/>
            <a:ext cx="502920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044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Gen 4 = CLI·TUI 시대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34290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Claude Code, Cursor, nanobot — 터미널에서 동작하는 Agent가 표준.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069080"/>
            <a:ext cx="8503920" cy="68580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224528"/>
            <a:ext cx="347472" cy="34747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60120" y="41605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</a:rPr>
              <a:t>Day 2 질문: "Cloud API 없이, 내 기기에서 직접 돌릴 수 있을까?"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960120" y="46451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→ 답: 가능하다. Ollama + llama.cpp 가 해결한다.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왜 Edge에서 LLM을 돌려야 하는가?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Edge 필요성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224528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54864" cy="16916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0058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</a:rPr>
              <a:t>개인정보 보호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143000" y="1444752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소스코드·의료기록·금융데이터를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클라우드에 보내면 안 된다.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GTX NPU 같은 온프레미스 필수.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90872" y="914400"/>
            <a:ext cx="4224528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90872" y="914400"/>
            <a:ext cx="54864" cy="16916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41732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13832" y="10058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7171"/>
                </a:solidFill>
              </a:rPr>
              <a:t>지연 시간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513832" y="1444752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클라우드 왕복 100~500ms.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자율주행·로봇·게임은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10ms 이하가 필요하다.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0040" y="2834640"/>
            <a:ext cx="4224528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2834640"/>
            <a:ext cx="54864" cy="1691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3756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2926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</a:rPr>
              <a:t>네트워크 의존성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143000" y="3364992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인터넷 끊기면 동작 불가.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오프라인 환경(공장·선박·군용)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에서는 Edge가 유일한 선택.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690872" y="2834640"/>
            <a:ext cx="4224528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90872" y="2834640"/>
            <a:ext cx="54864" cy="16916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33756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13832" y="2926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18CF8"/>
                </a:solidFill>
              </a:rPr>
              <a:t>비용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5513832" y="3364992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GPT-4o 1M 토큰 = $5.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온디바이스 LLM = 전기료만.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대규모 서비스에서 10~100배 차이.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Edge LLM = 프라이버시 + 속도 + 독립성 + 비용 절감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Cloud LLM vs Edge LLM — 언제 무엇을 쓰나?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비교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60320" y="822960"/>
            <a:ext cx="310896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8229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Cloud LLM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33872" y="822960"/>
            <a:ext cx="3108960" cy="3840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33872" y="8229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Edge LLM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325880"/>
            <a:ext cx="8622792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32588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4A3B8"/>
                </a:solidFill>
              </a:rPr>
              <a:t>모델 크기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42032" y="132588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GPT-4o, Claude 3.7 (수천B)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06440" y="132588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1B~13B (GGUF 양자화)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1892808"/>
            <a:ext cx="8622792" cy="530352"/>
          </a:xfrm>
          <a:prstGeom prst="rect">
            <a:avLst/>
          </a:prstGeom>
          <a:solidFill>
            <a:srgbClr val="17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892808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4A3B8"/>
                </a:solidFill>
              </a:rPr>
              <a:t>응답 지연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42032" y="189280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100~500ms (네트워크 포함)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06440" y="189280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0.5~5s (HW 의존)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459736"/>
            <a:ext cx="8622792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459736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4A3B8"/>
                </a:solidFill>
              </a:rPr>
              <a:t>비용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542032" y="2459736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토큰당 과금, 대량 시 고가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06440" y="2459736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전기료만 (초기 HW 투자)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026664"/>
            <a:ext cx="8622792" cy="530352"/>
          </a:xfrm>
          <a:prstGeom prst="rect">
            <a:avLst/>
          </a:prstGeom>
          <a:solidFill>
            <a:srgbClr val="17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26664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4A3B8"/>
                </a:solidFill>
              </a:rPr>
              <a:t>프라이버시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542032" y="3026664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데이터 외부 전송 불가피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06440" y="3026664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완전 로컬, 데이터 유출 없음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593592"/>
            <a:ext cx="8622792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59359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4A3B8"/>
                </a:solidFill>
              </a:rPr>
              <a:t>최신성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542032" y="359359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최신 모델 즉시 사용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06440" y="359359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수동 모델 업데이트 필요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4160520"/>
            <a:ext cx="8622792" cy="530352"/>
          </a:xfrm>
          <a:prstGeom prst="rect">
            <a:avLst/>
          </a:prstGeom>
          <a:solidFill>
            <a:srgbClr val="17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16052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4A3B8"/>
                </a:solidFill>
              </a:rPr>
              <a:t>추천 용도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542032" y="416052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복잡한 추론, 창의적 작업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806440" y="416052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반복 Task, 민감 데이터, 오프라인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GGUF: Edge LLM의 표준 포맷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GGUF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</a:rPr>
              <a:t>GGUF = GPT-Generated Unified Format | llama.cpp 프로젝트의 모델 직렬화 표준 (2023~)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160520" cy="3611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34440"/>
            <a:ext cx="54864" cy="36118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25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GGUF 파일 구조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3840480" cy="594360"/>
          </a:xfrm>
          <a:prstGeom prst="rect">
            <a:avLst/>
          </a:prstGeom>
          <a:solidFill>
            <a:srgbClr val="0A0F1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783080"/>
            <a:ext cx="960120" cy="59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8308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Header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572768" y="17830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매직 넘버, 버전, 텐서 개수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3840480" cy="594360"/>
          </a:xfrm>
          <a:prstGeom prst="rect">
            <a:avLst/>
          </a:prstGeom>
          <a:solidFill>
            <a:srgbClr val="0A0F1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468880"/>
            <a:ext cx="960120" cy="5943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6888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Metadata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72768" y="24688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모델명, 아키텍처, 파라미터 수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154680"/>
            <a:ext cx="3840480" cy="594360"/>
          </a:xfrm>
          <a:prstGeom prst="rect">
            <a:avLst/>
          </a:prstGeom>
          <a:solidFill>
            <a:srgbClr val="0A0F1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154680"/>
            <a:ext cx="960120" cy="594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5468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Tensor Info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572768" y="31546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각 레이어 이름·shape·dtype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840480"/>
            <a:ext cx="3840480" cy="594360"/>
          </a:xfrm>
          <a:prstGeom prst="rect">
            <a:avLst/>
          </a:prstGeom>
          <a:solidFill>
            <a:srgbClr val="0A0F1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840480"/>
            <a:ext cx="960120" cy="594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84048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Tensor Data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572768" y="38404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실제 가중치 (양자화 적용됨)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1234440"/>
            <a:ext cx="4160520" cy="3611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234440"/>
            <a:ext cx="54864" cy="36118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325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양자화 레벨 비교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36592" y="17373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포맷            파일 크기    RAM    품질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36592" y="2029968"/>
            <a:ext cx="3977640" cy="512064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202996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F32 (원본)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82512" y="2029968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26 GB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78040" y="2029968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32 GB+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909560" y="2029968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100%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36592" y="2596896"/>
            <a:ext cx="3977640" cy="512064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2596896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</a:rPr>
              <a:t>Q8_0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82512" y="2596896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7.7 GB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78040" y="2596896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10 GB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909560" y="2596896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99%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36592" y="3163824"/>
            <a:ext cx="3977640" cy="512064"/>
          </a:xfrm>
          <a:prstGeom prst="rect">
            <a:avLst/>
          </a:prstGeom>
          <a:solidFill>
            <a:srgbClr val="1A281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3163824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Q4_K_M ★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82512" y="3163824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4.1 GB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78040" y="3163824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6 GB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909560" y="3163824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97%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36592" y="3730752"/>
            <a:ext cx="3977640" cy="512064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3730752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</a:rPr>
              <a:t>Q3_K_S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82512" y="3730752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3.0 GB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178040" y="3730752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5 GB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909560" y="3730752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93%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36592" y="4297680"/>
            <a:ext cx="3977640" cy="512064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28032" y="4297680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</a:rPr>
              <a:t>Q2_K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82512" y="4297680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2.6 GB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178040" y="4297680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4 GB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909560" y="4297680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85%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736592" y="47091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BBF24"/>
                </a:solidFill>
              </a:rPr>
              <a:t>★ Q4_K_M = 실습 기본값 (품질·속도·용량 균형 최적)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llama.cpp: 경량 추론 엔진의 구조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llama.cpp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</a:rPr>
              <a:t>Georgi Gerganov가 만든 C/C++ 순수 구현 LLM 추론 엔진 — GPU 없이도 동작 (2023~)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5669280" cy="5943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54864" cy="59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9844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</a:rPr>
              <a:t>Your App / agent.py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160934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OpenAI 호환 HTTP API 호출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975104"/>
            <a:ext cx="5669280" cy="59436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75104"/>
            <a:ext cx="54864" cy="5943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11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18CF8"/>
                </a:solidFill>
              </a:rPr>
              <a:t>llama-server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232257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OpenAI 호환 REST API 서버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688336"/>
            <a:ext cx="5669280" cy="594360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688336"/>
            <a:ext cx="54864" cy="594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249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</a:rPr>
              <a:t>llama.cpp Core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2920" y="30358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토큰화 · KV Cache · Sampling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401568"/>
            <a:ext cx="5669280" cy="59436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401568"/>
            <a:ext cx="54864" cy="594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3814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</a:rPr>
              <a:t>GGML Compute Backend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3749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CPU (AVX2) / CUDA / Metal / Vulkan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114800"/>
            <a:ext cx="5669280" cy="59436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114800"/>
            <a:ext cx="54864" cy="5943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15137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</a:rPr>
              <a:t>GGUF Model File (.gguf)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44622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양자화된 가중치 데이터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2200" y="1261872"/>
            <a:ext cx="269748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1261872"/>
            <a:ext cx="54864" cy="35661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13533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핵심 특징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36792" y="1810512"/>
            <a:ext cx="164592" cy="164592"/>
          </a:xfrm>
          <a:prstGeom prst="oval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1783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순수 C++ — 외부 의존 없음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36792" y="2212848"/>
            <a:ext cx="164592" cy="164592"/>
          </a:xfrm>
          <a:prstGeom prst="oval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1968" y="21854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CPU only 동작 가능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36792" y="2615184"/>
            <a:ext cx="164592" cy="164592"/>
          </a:xfrm>
          <a:prstGeom prst="oval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01968" y="25877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CUDA / Metal / Vulkan 가속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36792" y="3017520"/>
            <a:ext cx="164592" cy="164592"/>
          </a:xfrm>
          <a:prstGeom prst="oval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1968" y="29900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Flash Attention 지원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36792" y="3419856"/>
            <a:ext cx="164592" cy="164592"/>
          </a:xfrm>
          <a:prstGeom prst="oval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01968" y="33924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4-bit 양자화 기본 내장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36792" y="3822192"/>
            <a:ext cx="164592" cy="164592"/>
          </a:xfrm>
          <a:prstGeom prst="oval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01968" y="37947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OpenAI 호환 서버 내장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336792" y="4224528"/>
            <a:ext cx="164592" cy="164592"/>
          </a:xfrm>
          <a:prstGeom prst="oval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01968" y="41970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Ollama의 추론 엔진 = llama.cpp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BF24"/>
                </a:solidFill>
              </a:rPr>
              <a:t>Ollama = llama.cpp 위에 모델 관리 + UI를 얹은 것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Ollama 설치 &amp; 로컬 모델 실행 — 지금 따라하세요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실습 세팅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69494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54864" cy="6949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078992"/>
            <a:ext cx="475488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78992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960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Ollama 설치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2801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 / Linux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https://ollama.com/install.sh | sh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Windows: https://ollama.com/download/OllamaSetup.exe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719072"/>
            <a:ext cx="8503920" cy="69494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719072"/>
            <a:ext cx="54864" cy="69494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1883664"/>
            <a:ext cx="475488" cy="4023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88366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17647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모델 다운로드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0848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llama3.2          # 2GB, 추천 (3B)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qwen2.5:3b          # 1.9GB, 한국어 강함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llama3.2:1b         # 0.8GB, 최소 사양용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523744"/>
            <a:ext cx="8503920" cy="69494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523744"/>
            <a:ext cx="54864" cy="69494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688336"/>
            <a:ext cx="475488" cy="40233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68833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25694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</a:rPr>
              <a:t>동작 확인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288950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run llama3.2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안녕하세요! ReAct 패턴이 뭔가요?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[Ctrl+D 로 종료]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328416"/>
            <a:ext cx="8503920" cy="69494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328416"/>
            <a:ext cx="54864" cy="69494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3493008"/>
            <a:ext cx="475488" cy="40233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49300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33741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agent.py 연결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369417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USE_OLLAMA=true python agent.py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또는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OLLAMA_MODEL=qwen2.5:3b USE_OLLAMA=true python agent.py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4133088"/>
            <a:ext cx="8503920" cy="69494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4133088"/>
            <a:ext cx="54864" cy="69494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" y="4297680"/>
            <a:ext cx="475488" cy="4023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429768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05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51560" y="41788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동작 확인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51560" y="44988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You: 오늘 날짜와 sqrt(144) 계산해줘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Agent가 get_datetime + calculate 동시 호출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937760"/>
            <a:ext cx="8503920" cy="164592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946904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</a:rPr>
              <a:t>⚠  GPU 없어도 CPU로 동작 — 단 속도는 느림. M1/M2 Mac이나 RTX가 있으면 훨씬 빠름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어떤 모델을 골라야 하나? — 2025 기준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모델 선택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8549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모델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31720" y="822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파일 크기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822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RAM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69080" y="822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언어 품질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8229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속도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0" y="822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추천 용도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234440"/>
            <a:ext cx="8549640" cy="566928"/>
          </a:xfrm>
          <a:prstGeom prst="rect">
            <a:avLst/>
          </a:prstGeom>
          <a:solidFill>
            <a:srgbClr val="0A1A2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234440"/>
            <a:ext cx="54864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2344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llama3.2:3b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123444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2.0 GB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123444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4 GB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69080" y="12344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영어 ★★★ / 한국어 ★★☆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0" y="12344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빠름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0" y="12344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범용 실습 기본값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1865376"/>
            <a:ext cx="8549640" cy="566928"/>
          </a:xfrm>
          <a:prstGeom prst="rect">
            <a:avLst/>
          </a:prstGeom>
          <a:solidFill>
            <a:srgbClr val="0A2A1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1865376"/>
            <a:ext cx="54864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186537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qwen2.5:3b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31720" y="186537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1.9 GB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1865376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4 GB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69080" y="186537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한국어 ★★★★ / 영어 ★★★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675120" y="18653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빠름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0" y="186537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</a:rPr>
              <a:t>한국어 강의 최적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2496312"/>
            <a:ext cx="854964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4963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llama3.2:1b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31720" y="249631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0.8 GB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91840" y="249631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2 GB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069080" y="249631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영어 ★★☆ / 한국어 ★☆☆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675120" y="249631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매우 빠름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98080" y="249631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저사양 PC 대비용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3127248"/>
            <a:ext cx="854964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1272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phi3.5:mini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331720" y="31272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2.2 GB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91840" y="312724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4 GB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069080" y="31272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영어 ★★★ / 한국어 ★★☆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675120" y="31272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빠름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98080" y="312724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코딩 Task 강점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0040" y="3758184"/>
            <a:ext cx="854964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375818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mistral:7b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331720" y="375818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4.1 GB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91840" y="3758184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8 GB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069080" y="375818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영어 ★★★★ / 한국어 ★★☆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675120" y="375818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보통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498080" y="375818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고품질 필요 시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040" y="4389120"/>
            <a:ext cx="854964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3891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llama3.1:8b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331720" y="43891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4.7 GB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291840" y="438912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8 GB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069080" y="43891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영어 ★★★★ / 한국어 ★★★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675120" y="438912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보통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498080" y="43891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Day 2 심화 실습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20040" y="50749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강의 권장: ollama pull qwen2.5:3b  (한국어 강의 최적, 4GB RAM이면 충분)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로컬 Agent 실습: agent.py + Ollama 연결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로컬 실습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4251960" cy="4206240"/>
          </a:xfrm>
          <a:prstGeom prst="rect">
            <a:avLst/>
          </a:prstGeom>
          <a:solidFill>
            <a:srgbClr val="111827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41248"/>
            <a:ext cx="425196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9326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Ollama 연결 (수정 부분)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225296"/>
            <a:ext cx="4069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agent.py Ollama 연결 부분 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OpenAI  # Ollama도 OpenAI 호환!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USE_OLLAMA = os.getenv("USE_OLLAMA","false") == "true"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USE_OLLAMA: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 = OpenAI(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base_url="http://localhost:11434/v1",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api_key="ollama"   # 아무 값이나 OK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 = os.getenv("OLLAMA_MODEL", "llama3.2")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 = OpenAI(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api_key=os.getenv("OPENAI_API_KEY")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 = "gpt-4o-mini"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run_agent는 동일 (변경 없음!) 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client.chat.completions.create(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model=MODEL,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messages=messages,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tools=TOOLS,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tool_choice="auto"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코드 변경 = 딱 이 2줄뿐!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 변수와 client 초기화만 다르다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36592" y="841248"/>
            <a:ext cx="4087368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841248"/>
            <a:ext cx="4087368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3268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실행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225296"/>
            <a:ext cx="3904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실행 방법 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기본 (OpenAI)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agent.py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Ollama 로컬 (llama3.2)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USE_OLLAMA=true python agent.py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Ollama 로컬 (한국어 최적)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OLLAMA_MODEL=qwen2.5:3b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USE_OLLAMA=true python agent.py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36592" y="2926080"/>
            <a:ext cx="4087368" cy="2121408"/>
          </a:xfrm>
          <a:prstGeom prst="rect">
            <a:avLst/>
          </a:prstGeom>
          <a:solidFill>
            <a:srgbClr val="111827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36592" y="2926080"/>
            <a:ext cx="4087368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01752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테스트 시나리오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3310128"/>
            <a:ext cx="390448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테스트 질문 모음 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You: 오늘 날짜 알려줘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get_datetime 호출 확인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You: sqrt(2) * 100 계산해줘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calculate 호출 확인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You: edge ai가 뭔지 검색해줘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search_web 호출 확인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You: agent.py 파일 읽어줘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read_file 호출 확인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로컬 LLM 성능 측정 — 직접 벤치마킹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성능 측정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</a:rPr>
              <a:t>추론 속도 단위: tokens/second (tok/s) — 숫자가 클수록 빠름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512064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88720"/>
            <a:ext cx="51206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801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측정 명령어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157276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Ollama 내장 벤치마크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run llama3.2 --verbose "hello" 2&gt;&amp;1 | grep tok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llama.cpp 직접 측정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./llama-bench -m model.gguf -t 8 -ngl 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77840" y="1188720"/>
            <a:ext cx="333756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77840" y="1188720"/>
            <a:ext cx="333756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87568" y="12801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Python 타이밍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87568" y="157276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= time.time()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client.chat.completions.create(...)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elapsed = time.time() - start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print(f"응답 시간: {elapsed:.2f}s")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670048"/>
            <a:ext cx="850392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670048"/>
            <a:ext cx="54864" cy="2331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432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하드웨어별 참고 성능 (llama3.2:3b Q4_K_M 기준)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하드웨어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속도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30632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비고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4015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M1 MacBook Air (8GB)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74720" y="34015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~25 tok/s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34015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쾌적한 실습 가능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RTX 3090 (24GB VRAM)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74720" y="3794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~120 tok/s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00600" y="37947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아주 빠름 (강사 PC)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4187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Intel i7 CPU only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74720" y="4187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</a:rPr>
              <a:t>~8 tok/s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418795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느리지만 동작은 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5811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Raspberry Pi 5 (8GB)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74720" y="45811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</a:rPr>
              <a:t>~3 tok/s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458114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데모용, 실용은 어렵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NPU 가속: Edge AI의 다음 단계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NPU 전망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</a:rPr>
              <a:t>CPU(느림) → GPU(빠름, 전력 多) → NPU(빠름, 전력 少) — Edge의 최종 목적지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2788920" cy="21762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54864" cy="21762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533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4A3B8"/>
                </a:solidFill>
              </a:rPr>
              <a:t>CPU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범용 연산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✅ 소프트웨어 유연성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</a:rPr>
              <a:t>⚠️ 행렬 연산 비효율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~8 tok/s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27832" y="1261872"/>
            <a:ext cx="2788920" cy="21762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27832" y="1261872"/>
            <a:ext cx="54864" cy="21762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3533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GPU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64992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병렬 행렬 연산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64992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✅ LLM 추론 최적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64992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</a:rPr>
              <a:t>⚠️ 전력 소비 큼 (200W+)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64992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~120 tok/s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35624" y="1261872"/>
            <a:ext cx="2788920" cy="21762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35624" y="1261872"/>
            <a:ext cx="54864" cy="21762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13533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</a:rPr>
              <a:t>NPU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272784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전용 하드웨어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72784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✅ 저전력 + 고속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72784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</a:rPr>
              <a:t>⚠️ 소프트웨어 생태계 초기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72784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목표 ~50+ tok/s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547872"/>
            <a:ext cx="8503920" cy="1234440"/>
          </a:xfrm>
          <a:prstGeom prst="rect">
            <a:avLst/>
          </a:prstGeom>
          <a:solidFill>
            <a:srgbClr val="1E293B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547872"/>
            <a:ext cx="64008" cy="1234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39312"/>
            <a:ext cx="594360" cy="59436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234440" y="3584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GTX NPU (SuperGate — 강사 현재 개발 중)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234440" y="395020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4 NEST × 16 SPU  |  16GB DRAM  |  PCIe 4.0  |  RISC-V Custom ISA  |  GGML Backend 개발 중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234440" y="425196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→ 이 NPU에서 llama.cpp / GGUF 모델을 돌리는 것이 이 연구의 목표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1234440" y="4526280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</a:rPr>
              <a:t>목표: 저전력(&lt;15W)으로 3B 모델 30+ tok/s 달성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대화 기억 구현: agent_memory.py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Memory 실습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</a:rPr>
              <a:t>"Memory is explicit storage, not consciousness" — 기억은 의식이 아니라 저장소다 (agents-from-scratch)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160520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34440"/>
            <a:ext cx="416052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3258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Memory 클래스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1618488"/>
            <a:ext cx="3977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Memory: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self.items = []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self.load_from_file()  # 복원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add(self, item: str):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item not in self.items: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self.items.append(item)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self.save_to_file()  # 영속화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search(self, query: str):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[i for i in self.items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query.lower() in i.lower()]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get_recent(self, n=5):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self.items[-n:]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1605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34440"/>
            <a:ext cx="416052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3258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JSONL 대화 이력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73168" y="161848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JSONL (한 줄 = 한 턴, append-only)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{"role":"user","content":"내 이름은 철수","ts":1710500000}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{"role":"assistant","content":"네, 철수님!","ts":1710500001}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크래시해도 이전 데이터 안전 (claw0 패턴)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2468880"/>
            <a:ext cx="41605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468880"/>
            <a:ext cx="416052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5603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Auto-Recall (자동 기억 주입)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73168" y="285292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run_agent()에서 자동 기억 주입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recent = memory.get_recent(3)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recent: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messages.append({"role":"system",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"content":f"참고 기억: {recent}"})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749040"/>
            <a:ext cx="850392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749040"/>
            <a:ext cx="54864" cy="1188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22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데모 흐름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4114800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You: /save 내 이름은 철수입니다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427939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기억 저장: 내 이름은 철수입니다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444398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You: 내 이름이 뭐였지?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4608576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💭 Tool: memory_search {"query": "이름"}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477316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"김철수님, 기억하고 있습니다!"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Planning: 로컬 LLM으로 계획을 세울 수 있을까?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Planning 실습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</a:rPr>
              <a:t>"Plans are data structures, not thoughts" — 계획은 생각이 아니라 데이터 구조다 (agents-from-scratch)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160520" cy="2560320"/>
          </a:xfrm>
          <a:prstGeom prst="rect">
            <a:avLst/>
          </a:prstGeom>
          <a:solidFill>
            <a:srgbClr val="111827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34440"/>
            <a:ext cx="416052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3258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create_plan() — 계획 생성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1618488"/>
            <a:ext cx="3977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create_plan(goal: str) -&gt; dict: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f"""목표를 단계별 분해하세요.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INSTRUCTIONS: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유효한 JSON만 출력. 설명 금지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형식: {{"steps": ["단계1", "단계2"]}}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목표: {goal}"""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attempt in range(3):  # 3회 재시도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 = client.chat.completions.create(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model=MODEL, messages=[...],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temperature=0.0)  # JSON 정확도 ↑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plan = extract_json_from_text(resp)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plan and "steps" in plan: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plan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1605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34440"/>
            <a:ext cx="54864" cy="12801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Edge LLM에서 JSON 출력 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28032" y="16642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• temperature=0.0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92240" y="16642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결정론적 출력, JSON 정확도 ↑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28032" y="186537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• 짧은 스키마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92240" y="18653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복잡한 nested JSON 피하기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28032" y="20665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• 3회 재시도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92240" y="206654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첫 시도 실패해도 2~3번째 성공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28032" y="22677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• qwen2.5:3b 추천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0" y="22677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JSON 안정성이 llama3.2보다 높음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651760"/>
            <a:ext cx="4160520" cy="114300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651760"/>
            <a:ext cx="416052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27432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데모 흐름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73168" y="303580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You: /plan Edge AI 조사하고 요약해줘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📋 계획: 1.검색 → 2.정리 → 3.요약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각 단계 Tool 자동 호출 실행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execute_plan()이 순차 처리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931920"/>
            <a:ext cx="850392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0690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실습 파일 단계별 진행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370832"/>
            <a:ext cx="2011680" cy="59436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4370832"/>
            <a:ext cx="45720" cy="594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407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agent.py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4663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4 Tools + ReAct (50줄)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96312" y="4370832"/>
            <a:ext cx="2011680" cy="5943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496312" y="4370832"/>
            <a:ext cx="45720" cy="59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87752" y="4407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agent_memory.py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587752" y="4663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+ Memory + JSONL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72584" y="4370832"/>
            <a:ext cx="2011680" cy="59436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72584" y="4370832"/>
            <a:ext cx="45720" cy="5943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64024" y="4407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agent_planner.py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64024" y="4663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+ Planning + JSON 파싱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48856" y="4370832"/>
            <a:ext cx="2011680" cy="59436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48856" y="4370832"/>
            <a:ext cx="45720" cy="5943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0296" y="4407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agent_advanced.py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40296" y="4663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종합: 7 Tools + 전부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Production Agent: 50줄에서 어디까지 갈 수 있는가?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Production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</a:rPr>
              <a:t>claw0 프로젝트 — 10단계로 Production Agent Gateway를 처음부터 구축하는 튜토리얼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251960" cy="621792"/>
          </a:xfrm>
          <a:prstGeom prst="rect">
            <a:avLst/>
          </a:prstGeom>
          <a:solidFill>
            <a:srgbClr val="0A1A2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45720" cy="6217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S01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2710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Agent Loop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while True + LLM 호출 + 분기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1271016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= agent.py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947672"/>
            <a:ext cx="4251960" cy="621792"/>
          </a:xfrm>
          <a:prstGeom prst="rect">
            <a:avLst/>
          </a:prstGeom>
          <a:solidFill>
            <a:srgbClr val="0A1A2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947672"/>
            <a:ext cx="45720" cy="6217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984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S02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19842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Tool Use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" y="22677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JSON 스키마 + 핸들러 맵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3280" y="198424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= agent.py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660904"/>
            <a:ext cx="4251960" cy="621792"/>
          </a:xfrm>
          <a:prstGeom prst="rect">
            <a:avLst/>
          </a:prstGeom>
          <a:solidFill>
            <a:srgbClr val="0A1A2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660904"/>
            <a:ext cx="4572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6974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S03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2697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Sessions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" y="298094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JSONL 영속화 + 컨텍스트 복구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269748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≈ agent_memory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374136"/>
            <a:ext cx="425196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374136"/>
            <a:ext cx="45720" cy="62179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4107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S04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3410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Channels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9768" y="369417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CLI + Telegram + Feishu 통합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4087368"/>
            <a:ext cx="425196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4087368"/>
            <a:ext cx="45720" cy="62179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" y="41239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S05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0120" y="41239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Gateway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9768" y="44074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멀티 Agent 라우팅 테이블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27448" y="1234440"/>
            <a:ext cx="425196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27448" y="1234440"/>
            <a:ext cx="45720" cy="6217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37176" y="127101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S06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67528" y="12710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Intelligence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37176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8층 프롬프트 + TF-IDF 메모리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27448" y="1947672"/>
            <a:ext cx="425196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27448" y="1947672"/>
            <a:ext cx="45720" cy="6217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37176" y="1984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S07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67528" y="19842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Heartbeat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37176" y="22677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백그라운드 자동 실행 + Cron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27448" y="2660904"/>
            <a:ext cx="425196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27448" y="2660904"/>
            <a:ext cx="45720" cy="6217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37176" y="26974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S08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67528" y="2697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Delivery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37176" y="298094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메시지 배달 보장 (WAL)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27448" y="3374136"/>
            <a:ext cx="425196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27448" y="3374136"/>
            <a:ext cx="45720" cy="6217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37176" y="34107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S09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367528" y="3410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Resilience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37176" y="369417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API 키 로테이션 + 3층 재시도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27448" y="4087368"/>
            <a:ext cx="425196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27448" y="4087368"/>
            <a:ext cx="45720" cy="6217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37176" y="41239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S10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367528" y="41239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Concurrency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37176" y="44074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Lane 기반 동시성 제어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0040" y="4828032"/>
            <a:ext cx="8503920" cy="27432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846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BBF24"/>
                </a:solidFill>
              </a:rPr>
              <a:t>지금 여러분의 agent.py는 S01-S02 단계. 나머지가 Production의 현실. claw0 저장소 공유 예정.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Day 2 실습 미션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실습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54864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078992"/>
            <a:ext cx="822960" cy="3474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789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기본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17320" y="1097280"/>
            <a:ext cx="7269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Ollama + llama3.2:3b 설치 → agent.py USE_OLLAMA=true 동작 확인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737360"/>
            <a:ext cx="850392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737360"/>
            <a:ext cx="54864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1901952"/>
            <a:ext cx="822960" cy="3474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9019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심화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1920240"/>
            <a:ext cx="7269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qwen2.5:3b vs llama3.2:3b 한국어 응답 품질 비교 (같은 질문 5개)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560320"/>
            <a:ext cx="850392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560320"/>
            <a:ext cx="54864" cy="71323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2724912"/>
            <a:ext cx="822960" cy="34747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7249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심화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17320" y="2743200"/>
            <a:ext cx="7269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응답 시간 측정: time() 으로 Cloud vs 로컬 latency 비교 표 만들기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383280"/>
            <a:ext cx="850392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383280"/>
            <a:ext cx="54864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3547872"/>
            <a:ext cx="822960" cy="3474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5478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심화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17320" y="3566160"/>
            <a:ext cx="7269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Memory 구현: 대화 내용을 chat_history.json에 저장·불러오기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4206240"/>
            <a:ext cx="850392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206240"/>
            <a:ext cx="54864" cy="7132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" y="4370832"/>
            <a:ext cx="822960" cy="3474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37083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도전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417320" y="4389120"/>
            <a:ext cx="7269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nanobot + Ollama 연결 후 loop.py와 우리 run_agent() 코드 라인 단위 비교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4919472"/>
            <a:ext cx="8503920" cy="164592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919472"/>
            <a:ext cx="182880" cy="18288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31520" y="4928616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BF24"/>
                </a:solidFill>
              </a:rPr>
              <a:t>Cloud vs Local 차이를 직접 체감하는 게 Day 2의 핵심 takeaway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Day 2 요약 — 5문장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Summary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54864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060704"/>
            <a:ext cx="502920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6070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9326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</a:rPr>
              <a:t>Edge LLM = 4가지 이유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97280" y="12984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프라이버시·지연·독립성·비용 — 클라우드만이 답이 아니다.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719072"/>
            <a:ext cx="850392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719072"/>
            <a:ext cx="54864" cy="71323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1883664"/>
            <a:ext cx="502920" cy="4114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88366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17556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18CF8"/>
                </a:solidFill>
              </a:rPr>
              <a:t>GGUF = 경량화 표준 포맷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97280" y="21214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Q4_K_M 양자화로 7B 모델을 4GB RAM에서 돌린다.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542032"/>
            <a:ext cx="850392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542032"/>
            <a:ext cx="54864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706624"/>
            <a:ext cx="502920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7066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25786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</a:rPr>
              <a:t>llama.cpp = 추론 엔진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97280" y="2944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CPU only도 동작. Ollama는 이 위에 편의성을 얹은 것.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364992"/>
            <a:ext cx="850392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364992"/>
            <a:ext cx="54864" cy="7132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3529584"/>
            <a:ext cx="502920" cy="4114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52958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34015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</a:rPr>
              <a:t>코드 변경 = 2줄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97280" y="37673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base_url + api_key만 바꾸면 Cloud→Local 전환 완료.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4187952"/>
            <a:ext cx="850392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4187952"/>
            <a:ext cx="54864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" y="4352544"/>
            <a:ext cx="502920" cy="4114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435254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7280" y="42245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7171"/>
                </a:solidFill>
              </a:rPr>
              <a:t>NPU = Edge AI의 미래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097280" y="4590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GTX NPU 같은 전용 하드웨어가 저전력 고속 추론을 실현한다.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919472"/>
            <a:ext cx="8503920" cy="201168"/>
          </a:xfrm>
          <a:prstGeom prst="rect">
            <a:avLst/>
          </a:prstGeom>
          <a:solidFill>
            <a:srgbClr val="0D201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</a:rPr>
              <a:t>🚀  숙제: 집에서 Ollama + 다른 모델 하나 더 실험해보기 (phi3.5, gemma3 등)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E05"/>
          </a:solidFill>
          <a:ln w="12700">
            <a:solidFill>
              <a:srgbClr val="050E0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114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2024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8FAFC"/>
                </a:solidFill>
              </a:rPr>
              <a:t>Q &amp; A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914400" y="2944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BBF24"/>
                </a:solidFill>
              </a:rPr>
              <a:t>질문은 언제든지 환영합니다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828800" y="3566160"/>
            <a:ext cx="54864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0" y="3566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실습 코드 · 슬라이드 강의 후 공유  |  Ollama 트러블슈팅은 discord 채널에서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14400" y="4224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이선우  |  Principal Engineer, SuperGate  |  GTX NPU Core Team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 AI Agent — Day 2</dc:title>
  <dc:subject>PptxGenJS Presentation</dc:subject>
  <dc:creator>PptxGenJS</dc:creator>
  <cp:lastModifiedBy>PptxGenJS</cp:lastModifiedBy>
  <cp:revision>1</cp:revision>
  <dcterms:created xsi:type="dcterms:W3CDTF">2026-03-15T11:30:25Z</dcterms:created>
  <dcterms:modified xsi:type="dcterms:W3CDTF">2026-03-15T11:30:25Z</dcterms:modified>
</cp:coreProperties>
</file>