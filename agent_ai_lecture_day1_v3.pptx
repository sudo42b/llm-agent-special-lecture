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36576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Agent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</a:rPr>
              <a:t>from Scratch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74320" y="3703320"/>
            <a:ext cx="228600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Edge Computing 특론 — AI 특강 Day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이선우  •  Principal Engineer, SuperGate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77640" y="777240"/>
            <a:ext cx="48463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6984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AI Agent 세대별 진화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3977640" y="2167128"/>
            <a:ext cx="48463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459736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2487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MCP · Skill 개념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3977640" y="3557016"/>
            <a:ext cx="48463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849624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3877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TUI 기반 실습 Agent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3977640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코드: agent.py (Python 50줄)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오늘 2시간 — 타임라인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16459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1280160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0:00–0:20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LLM 기초 &amp; 한계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14400"/>
            <a:ext cx="54864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005840"/>
            <a:ext cx="1280160" cy="2468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005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0:20–0:40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세대별 AI Agent 진화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14400"/>
            <a:ext cx="54864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005840"/>
            <a:ext cx="1280160" cy="246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0:40–1:00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Tool Use · MCP · Skill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66560" y="9144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14400"/>
            <a:ext cx="54864" cy="1645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005840"/>
            <a:ext cx="1280160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005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1:00–1:05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Break ☕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54864" cy="1645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26080"/>
            <a:ext cx="128016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1:05–1:15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ReAct 패턴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468880" y="283464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0" y="2834640"/>
            <a:ext cx="54864" cy="1645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2926080"/>
            <a:ext cx="128016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1:15–1:50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실습: agent.py 구현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617720" y="283464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834640"/>
            <a:ext cx="54864" cy="1645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926080"/>
            <a:ext cx="1280160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1:50–2:00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Day 2 Preview &amp; Q&amp;A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LLM의 본질: 하나의 함수 — 그리고 3가지 한계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LLM 기초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1148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4864" cy="12801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024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(text_in) → text_out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다음 토큰 확률 분포에서 샘플링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수십억 파라미터, 고정 가중치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2377440"/>
            <a:ext cx="914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377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나는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496312"/>
            <a:ext cx="73152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53312" y="2377440"/>
            <a:ext cx="914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53312" y="2377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밥을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496312"/>
            <a:ext cx="73152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86584" y="2377440"/>
            <a:ext cx="914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386584" y="2377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먹었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496312"/>
            <a:ext cx="73152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419856" y="2377440"/>
            <a:ext cx="914400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419856" y="2377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다 ▶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663440" y="896112"/>
            <a:ext cx="4160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663440" y="896112"/>
            <a:ext cx="54864" cy="1097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152144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0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기억이 없다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486400" y="1353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대화 종료 시 모든 컨텍스트 소멸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663440" y="2176272"/>
            <a:ext cx="4160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2176272"/>
            <a:ext cx="54864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432304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8640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행동을 못한다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0" y="2633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파일·API·검색 — 텍스트만 출력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663440" y="3456432"/>
            <a:ext cx="4160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663440" y="3456432"/>
            <a:ext cx="54864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712464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48640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최신 정보가 없다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5486400" y="3913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훈련 컷오프 이후 세상은 블랙박스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→ 이 세 가지를 해결한 것이 Agent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Agent = LLM이 세상을 바꾸는 시스템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Agent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8BDF8"/>
                </a:solidFill>
              </a:rPr>
              <a:t>"LLM이 스스로 계획(Plan)하고, 도구(Tool)를 써서 목표를 달성하는 자율 시스템"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20440" y="1508760"/>
            <a:ext cx="2103120" cy="1005840"/>
          </a:xfrm>
          <a:prstGeom prst="rect">
            <a:avLst/>
          </a:prstGeom>
          <a:solidFill>
            <a:srgbClr val="1D4ED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7276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20440" y="2075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LLM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4320" y="160020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600200"/>
            <a:ext cx="54864" cy="914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013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1673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Memory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32688" y="20574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대화 기록, Vector DB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720840" y="160020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20840" y="1600200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8013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79208" y="1673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Tools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379208" y="20574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검색, 계산, 파일, API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4320" y="310896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108960"/>
            <a:ext cx="54864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1012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31821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Planning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2688" y="3566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목표 분해, 우선순위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720840" y="310896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20840" y="3108960"/>
            <a:ext cx="54864" cy="9144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3310128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79208" y="31821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Action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379208" y="3566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실제 세계 인터페이스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606040" y="2011680"/>
            <a:ext cx="9144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5623560" y="2011680"/>
            <a:ext cx="10972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2606040" y="3566160"/>
            <a:ext cx="914400" cy="-105156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5623560" y="2514600"/>
            <a:ext cx="1097280" cy="105156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34" name="Text 2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오늘 실습: Memory 제외, Tool 4개, ReAct 루프 구현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AI Agent 세대별 진화 — 30년의 역사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세대별 진화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01952"/>
            <a:ext cx="320040" cy="320040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1990s–2005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9659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54864" cy="1691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42032"/>
            <a:ext cx="1280160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420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Gen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Rule-based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Expert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901952"/>
            <a:ext cx="320040" cy="320040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2005–2015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2468880"/>
            <a:ext cx="19659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2468880"/>
            <a:ext cx="54864" cy="1691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542032"/>
            <a:ext cx="1280160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5420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Gen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GUI Desktop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Chatbot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49240" y="1901952"/>
            <a:ext cx="320040" cy="320040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2015–2022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468880"/>
            <a:ext cx="19659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46888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542032"/>
            <a:ext cx="1280160" cy="2468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5420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Gen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Web Chat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Assistant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06640" y="1901952"/>
            <a:ext cx="320040" cy="32004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2022–2024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2468880"/>
            <a:ext cx="19659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2468880"/>
            <a:ext cx="54864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2542032"/>
            <a:ext cx="128016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5420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Gen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08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API Agent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(RAG, Tool)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8229600" cy="658368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315968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Gen 4  (2024–현재)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CLI · TUI 기반 Agentic Coding  —  Claude Code, Cursor, Devin, OpenHands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389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▶ 오늘 우리가 만드는 것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Gen 1–2: 대화창 안에 갇힌 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세대별 진화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1605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4864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024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Gen 1 — GUI Desktop Chatbot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2005–2015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1901952"/>
            <a:ext cx="201168" cy="201168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865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MSN Messenger Bot, 다음 챗봇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404872"/>
            <a:ext cx="201168" cy="201168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설치형 소프트웨어 (exe)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907792"/>
            <a:ext cx="201168" cy="201168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If–Else 규칙 기반 응답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410712"/>
            <a:ext cx="201168" cy="201168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74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API 연동 없음, 완전 오프라인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913632"/>
            <a:ext cx="201168" cy="201168"/>
          </a:xfrm>
          <a:prstGeom prst="oval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877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Eliza, ALICE 등 AIML 기반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7171"/>
                </a:solidFill>
              </a:rPr>
              <a:t>한계: 규칙 밖 질문에 "이해 못했어요" 반복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896112"/>
            <a:ext cx="41605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896112"/>
            <a:ext cx="54864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594360" cy="5943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69280" y="1024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Gen 2 — Web Chat Assistant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66928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2015–2022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846320" y="1901952"/>
            <a:ext cx="201168" cy="201168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66360" y="1865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ChatGPT (2022.11), Claude, Bard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46320" y="2404872"/>
            <a:ext cx="201168" cy="201168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16636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브라우저 기반, 설치 불필요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46320" y="2907792"/>
            <a:ext cx="201168" cy="201168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16636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LLM이 자유로운 자연어 이해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846320" y="3410712"/>
            <a:ext cx="201168" cy="201168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166360" y="3374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단방향: 질문 → 답변 only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846320" y="3913632"/>
            <a:ext cx="201168" cy="201168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66360" y="3877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외부 Tool 없음, 기억 없음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84632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</a:rPr>
              <a:t>한계: 최신 정보 없음, 계산 오류, 행동 불가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Gen 3–4: 실행하는 AI — CLI·TUI 시대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세대별 진화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1605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4864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Gen 3 — API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353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2022–2024  |  LangChain, AutoGPT, ReAct 논문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Tool Use + RAG 등장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Function Calling API 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Python 코드로 Agent 조립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여전히 브라우저/앱 UI 중심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834640"/>
            <a:ext cx="8503920" cy="2103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834640"/>
            <a:ext cx="64008" cy="2103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9260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Gen 4 — CLI · TUI 기반 Agentic Coding  (2024–현재)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2920" y="3383280"/>
            <a:ext cx="137160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Claude Code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65960" y="3383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터미널에서 직접 코드 작성·수정·실행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09160" y="3383280"/>
            <a:ext cx="1371600" cy="2560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0916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Cursor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172200" y="3383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IDE 내장 AI, 파일 전체를 컨텍스트로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" y="3977640"/>
            <a:ext cx="137160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Devin / SWE-Agent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965960" y="39776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자율 소프트웨어 엔지니어 Agent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09160" y="3977640"/>
            <a:ext cx="137160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0916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OpenHands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172200" y="39776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브라우저·터미널 자율 조작 오픈소스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핵심 전환: 대화창 → 터미널. UI는 최소화, 능력은 최대화.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663440" y="896112"/>
            <a:ext cx="41605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63440" y="896112"/>
            <a:ext cx="54864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28032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왜 CLI·TUI인가?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828032" y="1444752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20640" y="1408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파이프라인 자동화 — 스크립트와 자연 결합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828032" y="1883664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20640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파일 시스템 직접 접근 — 코드 읽기·쓰기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828032" y="2322576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1206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무한 Tool 확장 — MCP로 플러그인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828032" y="2761488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2064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GUI 없이도 서버·클라우드·임베디드 실행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Tool Use: LLM이 함수를 호출하는 메커니즘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Tool Use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LLM은 텍스트로 "이 함수를 실행해줘" 라고 요청 → 우리 코드가 실제로 실행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14630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170432"/>
            <a:ext cx="502920" cy="2560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4813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Query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755648"/>
            <a:ext cx="256032" cy="2560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39112" y="1261872"/>
            <a:ext cx="14630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23744" y="1170432"/>
            <a:ext cx="50292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23744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39112" y="14813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툴 선택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55648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803904" y="1261872"/>
            <a:ext cx="14630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88536" y="1170432"/>
            <a:ext cx="5029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88536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803904" y="14813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코드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실행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755648"/>
            <a:ext cx="256032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68696" y="1261872"/>
            <a:ext cx="14630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53328" y="1170432"/>
            <a:ext cx="50292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53328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568696" y="14813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결과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전달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755648"/>
            <a:ext cx="256032" cy="25603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33488" y="1261872"/>
            <a:ext cx="14630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818120" y="1170432"/>
            <a:ext cx="50292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818120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333488" y="14813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최종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답변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320040" y="2606040"/>
            <a:ext cx="41605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0040" y="2606040"/>
            <a:ext cx="41605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29768" y="2697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② LLM 출력 (JSON)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29768" y="2990088"/>
            <a:ext cx="3977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"tool": "search_web",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"args":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"query": "Edge AI 트렌드 2025"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663440" y="2606040"/>
            <a:ext cx="41605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663440" y="260604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73168" y="2697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③④ Python 처리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773168" y="2990088"/>
            <a:ext cx="3977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우리 코드가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= TOOL_FUNCTIONS[tool_name]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= fn(**args)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결과를 LLM에 다시 전달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"tool",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observation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MCP: Model Context Protocol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MCP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Anthropic이 2024.11 오픈소스로 공개 — AI Tool의 USB-C 표준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4864" cy="3566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4752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MCP란?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0292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🔌  AI ↔ 외부 서비스 연결 표준 프로토콜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25237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📦  Tool을 플러그인처럼 독립 배포 가능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30540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🌐  JSON-RPC 기반, 언어·플랫폼 무관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🔄  Server(Tool 제공) / Client(AI 앱) 구조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🛡️  권한 제어, 샌드박스 실행 지원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1298448"/>
            <a:ext cx="41605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298448"/>
            <a:ext cx="54864" cy="3566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지원 클라이언트 (2025)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28032" y="1847088"/>
            <a:ext cx="3858768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1883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Claude Desktop / Code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0" y="1883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Anthropic 공식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28032" y="2377440"/>
            <a:ext cx="3858768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Cursor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23760" y="24140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코드 에디터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28032" y="2907792"/>
            <a:ext cx="3858768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0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VS Code + Copilot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23760" y="29443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Microsoft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828032" y="3438144"/>
            <a:ext cx="3858768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OpenHands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2376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오픈소스 Agent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28032" y="3968496"/>
            <a:ext cx="3858768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Cline, Roo Code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22376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커뮤니티 클라이언트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BBF24"/>
                </a:solidFill>
              </a:rPr>
              <a:t>MCP는 선택, Tool Use는 필수 — 오늘 실습은 직접 Tool 정의 방식 사용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Skill: Agent의 능력 단위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Skill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Skill = Agent가 할 수 있는 구체적 능력 하나. Tool과 혼용되지만 뉘앙스가 다름.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Tool (함수 관점)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82880" cy="18288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단순 함수 단위  예) search_web()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182880" cy="18288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4048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입출력이 명확한 원자적 작업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182880" cy="18288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9352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LLM이 JSON으로 직접 호출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182880" cy="18288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6557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특정 API나 시스템에 종속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182880" cy="18288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995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예) calculator, read_file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16052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98448"/>
            <a:ext cx="54864" cy="3429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Skill (능력 관점)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복합 목표 달성 능력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450592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4048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여러 Tool을 조합해 실행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980944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9352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문맥과 전략이 포함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511296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46557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재사용·공유 가능한 단위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041648"/>
            <a:ext cx="182880" cy="18288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995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예) '코드 리뷰', '보고서 작성'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오늘 실습: 4개의 Tool(Skill) 정의 → Agent가 자율 선택해 실행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MCP · Skill · Tool 의 관계와 동작 흐름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MCP 동작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69164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사용자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자연어 질문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993392"/>
            <a:ext cx="201168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94560" y="1645920"/>
            <a:ext cx="1691640" cy="960120"/>
          </a:xfrm>
          <a:prstGeom prst="rect">
            <a:avLst/>
          </a:prstGeom>
          <a:solidFill>
            <a:srgbClr val="0F2744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AI Client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94560" y="2148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 / Cursor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993392"/>
            <a:ext cx="20116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114800" y="1645920"/>
            <a:ext cx="1691640" cy="960120"/>
          </a:xfrm>
          <a:prstGeom prst="rect">
            <a:avLst/>
          </a:prstGeom>
          <a:solidFill>
            <a:srgbClr val="1A104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11480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MCP Server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114800" y="2148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Tool 모음 (플러그인)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993392"/>
            <a:ext cx="201168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35040" y="1645920"/>
            <a:ext cx="1691640" cy="960120"/>
          </a:xfrm>
          <a:prstGeom prst="rect">
            <a:avLst/>
          </a:prstGeom>
          <a:solidFill>
            <a:srgbClr val="0A2018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03504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Skill / Tool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35040" y="2148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실제 함수 실행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993392"/>
            <a:ext cx="201168" cy="25603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406640" y="1645920"/>
            <a:ext cx="1691640" cy="960120"/>
          </a:xfrm>
          <a:prstGeom prst="rect">
            <a:avLst/>
          </a:prstGeom>
          <a:solidFill>
            <a:srgbClr val="1A12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40664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외부 서비스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06640" y="2148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 / DB / 파일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01752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JSON-RPC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02920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Function Call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94944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</a:rPr>
              <a:t>HTTP / SDK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274320" y="2834640"/>
            <a:ext cx="859536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74320" y="2834640"/>
            <a:ext cx="54864" cy="2057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2871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오늘 실습 구현 (MCP 없이 직접 Tool 정의)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MCP Server 없이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TOOL_FUNCTIONS = {                                 TOOLS = [JSON 스펙]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"calculate": calculate,     → LLM에게 사용 가능한 Tool 목록 전달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"search_web": search_web,   → LLM이 JSON으로 호출 지시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ReAct 패턴: Agent의 생각 루프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ReAct = Reasoning + Acting  |  Yao et al. 2022, Google Brain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783080" cy="1554480"/>
          </a:xfrm>
          <a:prstGeom prst="oval">
            <a:avLst/>
          </a:prstGeom>
          <a:solidFill>
            <a:srgbClr val="1E293B"/>
          </a:solidFill>
          <a:ln w="317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18CF8"/>
                </a:solidFill>
              </a:rPr>
              <a:t>Thought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상황 분석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다음 행동 계획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947672"/>
            <a:ext cx="5486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30752" y="1325880"/>
            <a:ext cx="1783080" cy="1554480"/>
          </a:xfrm>
          <a:prstGeom prst="oval">
            <a:avLst/>
          </a:prstGeom>
          <a:solidFill>
            <a:srgbClr val="1E293B"/>
          </a:solidFill>
          <a:ln w="317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Action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30752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Tool 선택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파라미터 결정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947672"/>
            <a:ext cx="5486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629400" y="1325880"/>
            <a:ext cx="1783080" cy="1554480"/>
          </a:xfrm>
          <a:prstGeom prst="oval">
            <a:avLst/>
          </a:prstGeom>
          <a:solidFill>
            <a:srgbClr val="1E293B"/>
          </a:solidFill>
          <a:ln w="317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2940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Observe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629400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결과 수신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다시 판단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28600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↩  목표 달성까지 반복 (max_steps 제한)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0040" y="3456432"/>
            <a:ext cx="85039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456432"/>
            <a:ext cx="54864" cy="1463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3511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실제 실행 트레이스 예시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508760" y="38404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'Edge AI 트렌드'를 물었다. search_web Tool이 필요하다.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" y="41605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→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508760" y="4160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search_web(query="Edge AI 트렌드 2025")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→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508760" y="4480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[결과] NPU 내장 기기 급증, llama.cpp 온디바이스 추론 보편화...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Agentic Design Patterns — ReAct 너머의 세계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Agent Patterns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ReAct는 시작일 뿐. 실제 프로덕션 Agent는 4가지 패턴을 조합합니다. (ref: Microsoft AI Agents for Beginners)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251960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17556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353312"/>
            <a:ext cx="384048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53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1353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ReAct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Reasoning + Acting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오늘 구현한 것.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Thought→Action→Observe 루프로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단일 목표를 단계적으로 달성.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1261872" cy="868680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2029968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언제?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계산, 검색, 파일 처리 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단순 순차 Task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27448" y="1261872"/>
            <a:ext cx="4251960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1261872"/>
            <a:ext cx="54864" cy="17556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7176" y="1353312"/>
            <a:ext cx="384048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353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353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Planning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Plan-and-Execute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LLM이 먼저 전체 계획(Step 목록)을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세우고, 각 Step을 순서대로 실행.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Re-plan도 가능.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07808" y="2011680"/>
            <a:ext cx="1261872" cy="868680"/>
          </a:xfrm>
          <a:prstGeom prst="rect">
            <a:avLst/>
          </a:prstGeom>
          <a:solidFill>
            <a:srgbClr val="0A0F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029968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언제?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복잡한 프로젝트 자동화,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다단계 코드 작성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4251960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63824"/>
            <a:ext cx="54864" cy="17556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255264"/>
            <a:ext cx="384048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" y="32552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Multi-Agent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1832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Orchestrator + Specialists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Orchestrator가 전략 수립,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Specialist Agent들이 각자 전문 영역 담당.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Claude Code가 이 구조.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913632"/>
            <a:ext cx="1261872" cy="868680"/>
          </a:xfrm>
          <a:prstGeom prst="rect">
            <a:avLst/>
          </a:prstGeom>
          <a:solidFill>
            <a:srgbClr val="0A0F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393192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언제?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대규모 소프트웨어 개발,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복합 도메인 리서치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27448" y="3163824"/>
            <a:ext cx="4251960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3163824"/>
            <a:ext cx="54864" cy="17556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37176" y="3255264"/>
            <a:ext cx="384048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2552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Metacognition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Self-Reflection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Agent가 자신의 출력을 스스로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검토·비판·수정. 품질 자동 향상.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Critic 패턴이라고도 함.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07808" y="3913632"/>
            <a:ext cx="1261872" cy="868680"/>
          </a:xfrm>
          <a:prstGeom prst="rect">
            <a:avLst/>
          </a:prstGeom>
          <a:solidFill>
            <a:srgbClr val="0A0F1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393192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언제?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고품질 문서·코드 생성,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오류 자동 수정 루프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오늘 실습 = ReAct (①). Day 2에서 Planning·Multi-Agent 맛보기 예정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환경 세팅 — 지금 바로 따라하세요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7040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7040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78992"/>
            <a:ext cx="50292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969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Python 패키지 설치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13167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openai rich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8503920" cy="7040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37360"/>
            <a:ext cx="54864" cy="7040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901952"/>
            <a:ext cx="502920" cy="411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01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17922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OpenAI Key 설정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78992" y="21396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OPENAI_API_KEY="sk-..."    # 또는 .env 파일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8503920" cy="7040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60320"/>
            <a:ext cx="54864" cy="7040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724912"/>
            <a:ext cx="50292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24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2615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(대안) Ollama 로컬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8992" y="29626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  &amp;&amp;  USE_OLLAMA=true python agent.py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8503920" cy="7040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54864" cy="7040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547872"/>
            <a:ext cx="50292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47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agent.py 실행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78992" y="37856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06240"/>
            <a:ext cx="8503920" cy="7040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206240"/>
            <a:ext cx="54864" cy="7040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4370832"/>
            <a:ext cx="50292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3708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4261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동작 확인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78992" y="46085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오늘 날짜가 뭐야?  →  Agent가 get_datetime 호출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1032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⚠  API Key 없으면 USE_OLLAMA=true 로 로컬 실행 — 강사에게 요청하세요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agent.py 전체 구조 — 6개 레이어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아키텍처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94360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950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</a:rPr>
              <a:t>Config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OpenAI / Ollama 선택, Model 설정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1508760"/>
            <a:ext cx="2743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↓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20040" y="1572768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609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Tool 함수들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1920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calculate · get_datetime · search_web · read_file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2167128"/>
            <a:ext cx="2743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↓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20040" y="2231136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31136"/>
            <a:ext cx="59436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31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267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TOOLS (스펙)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51560" y="2578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LLM에게 Tool을 설명하는 JSON 배열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0" y="2825496"/>
            <a:ext cx="2743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↓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89504"/>
            <a:ext cx="59436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89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</a:rPr>
              <a:t>SYSTEM_PROMPT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51560" y="32369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Agent 역할·행동 지침 정의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80560" y="3483864"/>
            <a:ext cx="2743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↓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47872"/>
            <a:ext cx="59436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47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run_agent()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51560" y="38953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ReAct 루프: LLM 호출 → Tool 실행 → 반복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80560" y="4142232"/>
            <a:ext cx="2743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↓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06240"/>
            <a:ext cx="594360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4242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</a:rPr>
              <a:t>main() TUI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51560" y="45537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Rich 기반 터미널 UI, 대화 관리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코드 ①-A: Tool 함수 정의 — calculate · get_datetime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코드 1/4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25196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4251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32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L2-A: calculate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225296"/>
            <a:ext cx="4069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calculate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calculate(expression: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"""수식을 안전하게 계산합니다.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 모듈 함수도 지원합니다."""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eval 화이트리스트 (보안)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k: getattr(math, 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 in dir(math)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k.startswith("_")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allowed.update({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"abs": abs, "round": round,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"int": int, "float": float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eval(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expression,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{"__builtins__": {}},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allowed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f"{expression} = {result}"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f"계산 오류: {e}"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테스트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calculate("sqrt(144)")    → "sqrt(144) = 12.0"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calculate("15 * 24")      → "15 * 24 = 360"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calculate("sin(3.14159)") → "sin(3.14159) = ..."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16052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416052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326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L2-B: get_datetime + SYSTEM_PROMPT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225296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get_datetime 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get_datetime(timezone: str = "KST")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"""현재 날짜와 시간을 반환합니다."""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datetime.datetime.now()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f"현재 시각 ({timezone}):\n"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f"{now.strftime('%Y년 %m월 %d일')}\n"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f"{now.strftime('%A %H:%M:%S')}\n"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f"Unix: {int(now.timestamp())}"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SYSTEM_PROMPT 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Edge Computing 특강 데모 Agent.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도구를 적극적으로 활용하세요: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계산 필요 → calculate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시간/날짜 필요 → get_datetime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모르는 정보 → search_web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파일 읽기 → read_file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항상 한국어로 답변하세요.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103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핵심: description이 정확할수록 LLM이 올바른 Tool을 선택한다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코드 ①-B: search_web · read_file + TOOLS 스펙 등록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코드 2/4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251960" cy="2304288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4251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32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L2-C: search_web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225296"/>
            <a:ext cx="406908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search_web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search_web(query: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"""최신 정보를 검색합니다.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실제: Tavily / SerpAPI 연동"""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데모용 시뮬레이션 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"edge ai":  "NPU 내장 기기 급증...",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"mcp":      "Anthropic 2024.11 오픈소스...",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"ollama":   "로컬 LLM 실행 도구...",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key, val in db.items():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in query.lower():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f"'{query}' 검색 결과 없음"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42519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246120"/>
            <a:ext cx="4251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3375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L2-D: read_file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630168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read_file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read_file(filepath: str,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max_chars: int = 800)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"""로컬 파일을 읽습니다."""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open(filepath, "r",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encoding="utf-8")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content = f.read(max_chars)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f"[{filepath}]\n{content}"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f"파일 없음: {filepath}"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60520" cy="4233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41248"/>
            <a:ext cx="41605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9326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L3: TOOLS 스펙 + 레지스트리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225296"/>
            <a:ext cx="39776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TOOLS 스펙 + 함수 레지스트리 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{"type": "function", "function":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"calculate",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"수식 계산. math 함수 지원.",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{"type": 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"expression": {"type":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"description": "파이썬 수식"}},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["expression"]}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{"type": "function", "function":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"get_datetime",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"현재 날짜·시간 조회",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{"type": 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"timezone": {"type": "string"}},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[]}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{"type": "function", "function":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"search_web",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"최신 정보·모르는 내용 검색",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{"type": 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"query": {"type": "string"}},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["query"]}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read_file 동일 패턴 생략...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핵심: 함수명과 실제 함수를 연결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TOOL_FUNCTIONS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"calculate":    calculate,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"get_datetime": get_datetime,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"search_web":   search_web,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"read_file":    read_file,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코드 ②-A: run_agent() — ReAct 루프 전체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코드 3/4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85039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L5: run_agent() 전체 코드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8321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L5: run_agent — ReAct 루프 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run_agent(user_input: str, messages: list, max_steps: int = 6) -&gt; str: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messages.append({"role": "user", "content": user_input})   # 사용자 메시지 추가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range(max_steps):                               # 최대 6번 반복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① Thought: LLM에게 다음 행동 물어보기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client.chat.completions.create(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model=MODEL, messages=messages,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tools=TOOLS, tool_choice="auto"                     # auto = LLM이 Tool 선택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response.choices[0].message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② 최종 답변 (Tool 호출 없음 → 루프 종료)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msg.tool_calls: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messages.append({"role": "assistant", "content": msg.content})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msg.content                                  # ← 여기서 리턴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③ Action: Tool 실행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messages.append(msg)                                    # assistant turn 기록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tc in msg.tool_calls: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fn_name = tc.function.name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fn_args = json.loads(tc.function.arguments)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console.print(f"  💭 Tool: {fn_name} {fn_args}")   # Thought 로그 출력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fn  = TOOL_FUNCTIONS.get(fn_name)                  # 함수 조회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obs = fn(**fn_args) if fn else f"알 수 없는 툴: {fn_name}"  # 실행!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console.print(f"  🔍 결과: {obs[:80]}...")          # Observe 로그 출력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④ Observe: 결과를 대화 기록에 추가 → 다음 루프에서 LLM이 참조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messages.append({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"role": "tool",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"tool_call_id": tc.id,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"content": obs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"⚠️ 최대 처리 단계 초과"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371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BDF8"/>
                </a:solidFill>
              </a:rPr>
              <a:t>Thought(①) → Action(③) → Observe(④) → 반복 — 이게 ReAct의 전부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코드 ②-B: main() — Rich TUI 대화 루프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코드 4/4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02920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L6: main() + Rich TUI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L6: main() — Rich TUI 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rich.console import Console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rich.panel   import Panel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rich.prompt  import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rich.rule    import Rule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= Console()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_make_client()           # OpenAI or Ollama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시작 화면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console.print(Panel(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"[bold cyan]Agent AI from Scratch[/bold cyan]\n"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"[dim]Tools: calculate | datetime | search | file[/dim]\n"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"[dim]'exit' 종료 | 'tools' 목록 | 'clear' 초기화[/dim]",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border_style="cyan", padding=(0,1)))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[{"role": "system",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"content": SYSTEM_PROMPT}]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 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= Prompt.ask("\n[bold green]You[/bold green]")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user.lower() in ("exit", "종료"):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user.lower() == "tools":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console.print(show_tool_table())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user.lower() == "clear":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 = [messages[0]]      # system만 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turn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turn +=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console.print(Rule(f"[dim]Turn {turn}[/dim]"))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console.status("[yellow]🤔 처리중...[/yellow]"):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answer = run_agent(user, messages)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console.print(Panel(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answer,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title=f"[blue]Agent[/blue] [dim](Turn {turn})[/dim]",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border_style="blue", padding=(0,1)))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32120" y="914400"/>
            <a:ext cx="329184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914400"/>
            <a:ext cx="54864" cy="3977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TUI 실행 화면 (예시)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50992" y="1335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╭─────────────────────────╮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50992" y="1517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Agent AI from Scratch  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50992" y="17007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Tools: calc|time|...   │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50992" y="18836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╰─────────────────────────╯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50992" y="20665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50992" y="22494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15 * 24 계산해줘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50992" y="2432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50992" y="26151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💭 Tool: calculate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50992" y="27980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{"expression":"15*24"}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50992" y="29809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🔍 결과: 15 * 24 = 360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50992" y="31638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50992" y="33467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╭── Agent (Turn 1) ────────╮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35295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15 × 24 = 360 입니다!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37124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╰─────────────────────────╯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50992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40782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_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심화 실습: nanobot으로 보는 프로덕션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nanobot 실습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우리가 만든 50줄 vs HKUDS/nanobot 4,000줄 — 같은 ReAct 패턴을 직접 확인합니다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581912"/>
            <a:ext cx="50292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81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1335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설치 (1분)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70078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nanobot-ai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nanobot onboard   # API key 설정 (OpenAI / Ollama)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609344"/>
            <a:ext cx="20574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459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💡 pip 한 줄로 완료. Python 3.11+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68880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788920"/>
            <a:ext cx="50292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2542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CLI 실행 비교 (5분)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907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nanobot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nanobot agent -p "오늘 날짜와 15*24 계산해줘"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우리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   # 같은 질문 입력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816352"/>
            <a:ext cx="20574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8529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💡 결과가 동일하다 → 같은 패턴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75888"/>
            <a:ext cx="54864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95928"/>
            <a:ext cx="50292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95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8992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loop.py 코드 리딩 (10분)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114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nanobot/agent/loop.py 열기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https://github.com/HKUDS/nanobot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nanobot/nanobot/agent/loop.py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4023360"/>
            <a:ext cx="20574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💡 AgentLoop.run() = 우리 run_agent()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18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항목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4818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우리 agent.py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4818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nanobot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8188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코드: ~50줄 (오늘 실습)  |  패턴: ReAct Loop  ↔  nanobot: ~4,000줄 (core)  |  패턴: 동일  →  확장성·채널·Memory 차이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Structured Output: LLM에게 JSON을 강제하는 법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심화 패턴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LLM은 확률적 → "JSON만 출력해" 해도 설명문을 붙인다. 해결: 3가지 테크닉 조합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605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54864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508760"/>
            <a:ext cx="4572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CRITICAL INSTRUCTIONS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"반드시 JSON만. 설명·마크다운 금지."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강한 지시문으로 확률 제어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1605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560320"/>
            <a:ext cx="45720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temperature = 0.0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결정론적 출력 → 가장 확률 높은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토큰만 선택 → JSON 정확도 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41605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83280"/>
            <a:ext cx="54864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611880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3회 재시도 + 파싱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extract_json_from_text()로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마크다운·설명문 자동 제거 후 재파싱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416052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80160"/>
            <a:ext cx="41605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371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Structured Output 패턴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1664208"/>
            <a:ext cx="3977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f"""목표를 분석하세요.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INSTRUCTIONS: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반드시 유효한 JSON만 출력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설명, 마크다운 금지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{{ 로 시작, }} 로 끝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{{"result": "분석 내용"}}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attempt in range(3):  # 재시도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client.chat.completions.create(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 messages=[...],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temperature=0.0  # 결정론적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parsed = extract_json_from_text(resp)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parsed: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parsed  # 성공!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출처: agents-from-scratch Lesson 3 | Validation + Retries =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Memory: Agent에게 기억을 주는 법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심화 패턴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"Memory is explicit storage, not consciousness" — 기억은 의식이 아니라 저장소다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왜 기억이 필요한가?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✗ 프로그램 종료 → 모든 대화 소멸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✗ "아까 말한 거 뭐였지?" → 대응 불가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✗ 사용자 이름·선호도 기억 불가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✗ 세션 간 연속성 없음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해결: Memory 클래스 + JSONL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8032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✓ Memory 클래스: add() / search() / get_recent()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✓ JSONL 파일: 대화마다 한 줄씩 append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2240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✓ memory_search Tool: LLM이 직접 기억 검색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✓ 자동 주입: 최근 기억을 프롬프트에 삽입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41605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80360"/>
            <a:ext cx="416052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971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Memory 클래스 (핵심)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264408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Memory: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  # 기억 저장소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item: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item not in self.items: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self.items.append(item)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self.save_to_file()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search(self, query: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[i for i in self.items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query.lower() in i.lower()]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1605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80360"/>
            <a:ext cx="41605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71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JSONL 대화 이력 (claw0 패턴)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3264408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JSONL: 한 줄 = 한 턴 (append-only)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{"role":"user","content":"내 이름은 철수"}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{"role":"assistant","content":"네, 철수님!"}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자동 기억 주입 (run_agent 안에서)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= memory.get_recent(3)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"system",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f"기억: {recent}"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Agent → Production: 어디까지 갈 수 있는가?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로드맵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4864" cy="2194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Planning 패턴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"계획은 생각이 아니라 데이터 구조다"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39776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72768"/>
            <a:ext cx="39776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73736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목표 → JSON 계획 분해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= create_plan("Edge AI 조사해줘")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{"steps":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"search_web으로 Edge AI 검색",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"핵심 포인트 정리",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"요약문 작성"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]}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execute_plan(plan)  # 순차 실행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605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68680"/>
            <a:ext cx="54864" cy="2194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Production Agent 로드맵 (claw0)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01-02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76672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Loop + 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← 우리 agent.py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8032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76672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Session 영속화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← agent_memory.py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1874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04-05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76672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채널 + 라우팅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Telegram/Slack 연결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8032" y="2148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76672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8층 프롬프트 + 메모리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8032" y="2423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07-08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76672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자동실행 + 배달보장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Cron + WAL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2697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09-10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76672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복원력 + 동시성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 로테이션 + Lane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375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제공 실습 파일 — 단계별 확장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3703320"/>
            <a:ext cx="19659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703320"/>
            <a:ext cx="54864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4133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기본 (50줄) — 4 Tools + ReAct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96312" y="3703320"/>
            <a:ext cx="19659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96312" y="3703320"/>
            <a:ext cx="54864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agent_memory.py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06040" y="4133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대화 기억 + JSONL + memory_search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72584" y="3703320"/>
            <a:ext cx="19659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72584" y="3703320"/>
            <a:ext cx="54864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agent_planner.py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82312" y="4133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계획 수립 + JSON 파싱 + 실행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48856" y="3703320"/>
            <a:ext cx="19659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48856" y="3703320"/>
            <a:ext cx="54864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58584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agent_advanced.py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58584" y="4133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종합 — 7 Tools + Memory + Plan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359152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535424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711696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출처: agents-from-scratch (12 lessons) + claw0 (10 sections) — 강의 후 공유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실습 미션 &amp; 확장 도전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78992"/>
            <a:ext cx="82296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기본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0972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agent.py 실행 → 4가지 Tool 각각 동작 확인 (계산·시간·검색·파일)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37360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901952"/>
            <a:ext cx="82296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01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192024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Tool 추가: translate(text, lang) — 파파고/DeepL API 또는 Mock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60320"/>
            <a:ext cx="54864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724912"/>
            <a:ext cx="822960" cy="3474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249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74320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대화 저장: messages를 JSON 파일로 write → 다음 실행에서 load (Memory 흉내)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547872"/>
            <a:ext cx="82296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478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356616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nanobot 설치 후 loop.py 읽기 → run_agent()와 AgentLoop.run() 구조 비교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06240"/>
            <a:ext cx="54864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4370832"/>
            <a:ext cx="82296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370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도전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438912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Ollama 로컬 모델(llama3.2)로 API Key 없이 agent.py + nanobot 동시 동작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919472"/>
            <a:ext cx="182880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" y="4928616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</a:rPr>
              <a:t>막히면 손 들어주세요 — 같이 디버깅합니다 (이게 진짜 개발입니다 😄)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Day 2 Preview: Edge에서 Agent를 돌리면?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8BDF8"/>
                </a:solidFill>
              </a:rPr>
              <a:t>"Cloud Agent는 됐다. 이제 손 안의 기기, NPU에서 돌려보자"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116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메모리 제약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20756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4GB DRAM에서 7B 모델?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GGUF 4-bit 양자화 필수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572768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572768"/>
            <a:ext cx="54864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116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GGUF / llama.cpp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0" y="20756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로컬 LLM 실행 표준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Ollama로 1줄 설치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246120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246120"/>
            <a:ext cx="54864" cy="1463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68503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337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latency 문제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43000" y="374904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클라우드 100ms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온디바이스 2~10s 현실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3246120"/>
            <a:ext cx="4160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246120"/>
            <a:ext cx="54864" cy="1463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68503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337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NPU 가속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0" y="374904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경량화 + NPU dispatch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(강사 GTX NPU 실무 경험담)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다음 주 준비: Ollama 설치 + llama3.2 pull 해오기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오늘 배운 것 — 5문장 요약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4864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60704"/>
            <a:ext cx="502920" cy="411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607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932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</a:rPr>
              <a:t>LLM은 토큰 예측 함수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기억·행동·최신 정보가 없다. 그래서 Agent가 필요하다.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19072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883664"/>
            <a:ext cx="50292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836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55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AI Agent 4세대 진화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21214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대화창 → CLI·TUI → Agentic. 오늘의 Agent는 터미널에서 실행된다.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42032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706624"/>
            <a:ext cx="50292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066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578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Tool = Skill = 능력 단위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2944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함수를 등록하면 LLM이 스스로 골라 쓴다. MCP는 이것의 표준화.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36499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64992"/>
            <a:ext cx="54864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529584"/>
            <a:ext cx="50292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295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ReAct: Thought→Act→Observe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7280" y="3767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3단계 루프를 반복하면 복잡한 작업도 풀 수 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18795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87952"/>
            <a:ext cx="54864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4352544"/>
            <a:ext cx="50292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3525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224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</a:rPr>
              <a:t>실제 동작하는 코드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97280" y="4590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agent.py 를 직접 만들었다. Tool 추가, Memory, 로컬 실행이 숙제.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solidFill>
            <a:srgbClr val="0D3B6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🚀  숙제: agent.py에 Tool 하나 더 추가해오기 (자유 주제)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E1A"/>
          </a:solidFill>
          <a:ln w="12700">
            <a:solidFill>
              <a:srgbClr val="050E1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AFC"/>
                </a:solidFill>
              </a:rPr>
              <a:t>Q &amp; A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2944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질문은 언제든지 환영합니다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실습 코드(agent.py) · 슬라이드 강의 후 공유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이선우  |  Principal Engineer, SuperGate  |  GTX NPU Core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AI from Scratch</dc:title>
  <dc:subject>PptxGenJS Presentation</dc:subject>
  <dc:creator>PptxGenJS</dc:creator>
  <cp:lastModifiedBy>PptxGenJS</cp:lastModifiedBy>
  <cp:revision>1</cp:revision>
  <dcterms:created xsi:type="dcterms:W3CDTF">2026-03-15T11:30:25Z</dcterms:created>
  <dcterms:modified xsi:type="dcterms:W3CDTF">2026-03-15T11:30:25Z</dcterms:modified>
</cp:coreProperties>
</file>